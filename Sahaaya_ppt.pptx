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1.png"/><Relationship Id="rId6" Type="http://schemas.openxmlformats.org/officeDocument/2006/relationships/image" Target="../media/image-3-3.png"/><Relationship Id="rId7" Type="http://schemas.openxmlformats.org/officeDocument/2006/relationships/image" Target="../media/image-3-3.png"/><Relationship Id="rId8" Type="http://schemas.openxmlformats.org/officeDocument/2006/relationships/image" Target="../media/image-3-8.png"/><Relationship Id="rId9" Type="http://schemas.openxmlformats.org/officeDocument/2006/relationships/image" Target="../media/image-3-3.png"/><Relationship Id="rId10" Type="http://schemas.openxmlformats.org/officeDocument/2006/relationships/image" Target="../media/image-3-3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C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1C3A63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846320"/>
            <a:ext cx="2377440" cy="23774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ppt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262" y="907542"/>
            <a:ext cx="608076" cy="608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HACKDAY 1.0  ·  TECH FOR A BETTER TOMORROW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SAHAAYA</a:t>
            </a:r>
            <a:endParaRPr lang="en-US" sz="68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Government Scheme Navigator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“Speak. Discover. Benefit.”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Indian Languages</a:t>
            </a:r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Verified Schemes</a:t>
            </a:r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Deterministic Matching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Sudeshna Kalluri  ·  Poornima Paidy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“kallurisudeshna”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3" name="Image 0" descr="/home/claude/ppt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Welfare exists. Awareness doesn’t.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1261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hundreds of central and state welfare schemes — yet millions of eligible citizens never discover the support available to them.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C3A63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40180" y="2194560"/>
            <a:ext cx="731520" cy="73152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9" name="Image 1" descr="/home/claude/ppt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93" y="2296973"/>
            <a:ext cx="526694" cy="526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108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literacy barriers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84048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are English-heavy and form-driven, shutting out citizens who think and speak in regional languages.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19272" y="187452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C3A6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10812" y="2194560"/>
            <a:ext cx="731520" cy="73152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14" name="Image 2" descr="/home/claude/ppt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25" y="229697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2152" y="3108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information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47872" y="384048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state schemes live on dozens of separate portals with no single, trustworthy source of truth.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89904" y="187452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C3A63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81444" y="2194560"/>
            <a:ext cx="731520" cy="73152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19" name="Image 3" descr="/home/claude/pp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857" y="2296973"/>
            <a:ext cx="526694" cy="52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2784" y="3108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eligibility rules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318504" y="384048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can’t tell which of 700+ schemes apply to their exact life situation — age, land, income, family status.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860536" y="187452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sx="100000" sy="100000" kx="0" ky="0" algn="bl" rotWithShape="0" blurRad="101600" dist="38100" dir="5400000">
              <a:srgbClr val="1C3A63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752076" y="2194560"/>
            <a:ext cx="731520" cy="73152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24" name="Image 4" descr="/home/claude/ppt/icons/mapmark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489" y="2296973"/>
            <a:ext cx="526694" cy="5266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43416" y="3108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Last-mile dependency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089136" y="3840480"/>
            <a:ext cx="2057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 rely on scarce CSC operators or agents, often travelling long distances for basic guidance.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ppt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conversation, not a form.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1261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turns scheme discovery into a natural spoken conversation — in the citizen’s own language.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194560"/>
            <a:ext cx="2331720" cy="2834640"/>
          </a:xfrm>
          <a:prstGeom prst="roundRect">
            <a:avLst>
              <a:gd name="adj" fmla="val 3922"/>
            </a:avLst>
          </a:prstGeom>
          <a:solidFill>
            <a:srgbClr val="142845"/>
          </a:solidFill>
          <a:ln/>
          <a:effectLst>
            <a:outerShdw sx="100000" sy="100000" kx="0" ky="0" algn="bl" rotWithShape="0" blurRad="101600" dist="38100" dir="5400000">
              <a:srgbClr val="142845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6172" y="26974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/home/claude/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86" y="2806294"/>
            <a:ext cx="559613" cy="5596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6118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4005072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describes their situation by voice, in any of 7 regional languages.</a:t>
            </a:r>
            <a:endParaRPr lang="en-US" sz="1050" dirty="0"/>
          </a:p>
        </p:txBody>
      </p:sp>
      <p:pic>
        <p:nvPicPr>
          <p:cNvPr id="13" name="Image 2" descr="/home/claude/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3465576"/>
            <a:ext cx="310896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971800" y="3438144"/>
            <a:ext cx="347472" cy="347472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15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3520440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383280" y="2194560"/>
            <a:ext cx="2331720" cy="2834640"/>
          </a:xfrm>
          <a:prstGeom prst="roundRect">
            <a:avLst>
              <a:gd name="adj" fmla="val 3922"/>
            </a:avLst>
          </a:prstGeom>
          <a:solidFill>
            <a:srgbClr val="1C3A63"/>
          </a:solidFill>
          <a:ln/>
          <a:effectLst>
            <a:outerShdw sx="100000" sy="100000" kx="0" ky="0" algn="bl" rotWithShape="0" blurRad="101600" dist="38100" dir="5400000">
              <a:srgbClr val="142845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3547872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165092" y="26974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9" name="Image 4" descr="/home/claude/ppt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906" y="2806294"/>
            <a:ext cx="559613" cy="5596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20440" y="36118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3566160" y="4005072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NLP builds a structured profile from only what was explicitly said — zero hallucination.</a:t>
            </a:r>
            <a:endParaRPr lang="en-US" sz="1050" dirty="0"/>
          </a:p>
        </p:txBody>
      </p:sp>
      <p:pic>
        <p:nvPicPr>
          <p:cNvPr id="22" name="Image 5" descr="/home/claude/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3465576"/>
            <a:ext cx="310896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760720" y="3438144"/>
            <a:ext cx="347472" cy="347472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24" name="Image 6" descr="/home/claude/ppt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3520440"/>
            <a:ext cx="182880" cy="18288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172200" y="2194560"/>
            <a:ext cx="2331720" cy="2834640"/>
          </a:xfrm>
          <a:prstGeom prst="roundRect">
            <a:avLst>
              <a:gd name="adj" fmla="val 3922"/>
            </a:avLst>
          </a:prstGeom>
          <a:solidFill>
            <a:srgbClr val="142845"/>
          </a:solidFill>
          <a:ln/>
          <a:effectLst>
            <a:outerShdw sx="100000" sy="100000" kx="0" ky="0" algn="bl" rotWithShape="0" blurRad="101600" dist="38100" dir="5400000">
              <a:srgbClr val="142845">
                <a:alpha val="18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6336792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6954012" y="26974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8" name="Image 7" descr="/home/claude/ppt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826" y="2806294"/>
            <a:ext cx="559613" cy="559613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309360" y="36118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6355080" y="4005072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deterministic rules engine checks the profile against 22+ verified schemes.</a:t>
            </a:r>
            <a:endParaRPr lang="en-US" sz="1050" dirty="0"/>
          </a:p>
        </p:txBody>
      </p:sp>
      <p:pic>
        <p:nvPicPr>
          <p:cNvPr id="31" name="Image 8" descr="/home/claude/ppt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7072" y="3465576"/>
            <a:ext cx="310896" cy="292608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8549640" y="3438144"/>
            <a:ext cx="347472" cy="347472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33" name="Image 9" descr="/home/claude/ppt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1936" y="3520440"/>
            <a:ext cx="182880" cy="18288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8961120" y="2194560"/>
            <a:ext cx="2331720" cy="2834640"/>
          </a:xfrm>
          <a:prstGeom prst="roundRect">
            <a:avLst>
              <a:gd name="adj" fmla="val 3922"/>
            </a:avLst>
          </a:prstGeom>
          <a:solidFill>
            <a:srgbClr val="1C3A63"/>
          </a:solidFill>
          <a:ln/>
          <a:effectLst>
            <a:outerShdw sx="100000" sy="100000" kx="0" ky="0" algn="bl" rotWithShape="0" blurRad="101600" dist="38100" dir="5400000">
              <a:srgbClr val="142845">
                <a:alpha val="18000"/>
              </a:srgbClr>
            </a:outerShdw>
          </a:effectLst>
        </p:spPr>
      </p:sp>
      <p:sp>
        <p:nvSpPr>
          <p:cNvPr id="35" name="Text 23"/>
          <p:cNvSpPr/>
          <p:nvPr/>
        </p:nvSpPr>
        <p:spPr>
          <a:xfrm>
            <a:off x="9125712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Shape 24"/>
          <p:cNvSpPr/>
          <p:nvPr/>
        </p:nvSpPr>
        <p:spPr>
          <a:xfrm>
            <a:off x="9742932" y="26974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7" name="Image 10" descr="/home/claude/ppt/icons/clipbo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1746" y="2806294"/>
            <a:ext cx="559613" cy="559613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098280" y="36118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39" name="Text 26"/>
          <p:cNvSpPr/>
          <p:nvPr/>
        </p:nvSpPr>
        <p:spPr>
          <a:xfrm>
            <a:off x="9144000" y="4005072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gets a spoken benefits summary, document checklist, and a CSC-ready action plan.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594360" y="53492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777240" y="5513832"/>
            <a:ext cx="548640" cy="548640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42" name="Image 11" descr="/home/claude/ppt/icons/shie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536" y="5596128"/>
            <a:ext cx="384048" cy="38404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508760" y="54589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extracts stated facts — it never invents benefits or decides eligibility. All matching runs in verified, deterministic code.</a:t>
            </a:r>
            <a:endParaRPr lang="en-US" sz="1250" dirty="0"/>
          </a:p>
        </p:txBody>
      </p:sp>
      <p:sp>
        <p:nvSpPr>
          <p:cNvPr id="44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3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TARGET USERS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citizens portals leave behind.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1261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is designed first for the people most underserved by digital government services.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1C3A63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91740"/>
            <a:ext cx="822960" cy="82296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9" name="Image 1" descr="/home/claude/ppt/icons/tra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" y="2606954"/>
            <a:ext cx="592531" cy="5925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2167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&amp; rural landholders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920240" y="258775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PM-KISAN, crop insurance, Kisan Credit Card, and irrigation support — matched to land size and crop details.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55080" y="19659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1C3A63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49174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4" name="Image 2" descr="/home/claude/ppt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614" y="2606954"/>
            <a:ext cx="592531" cy="592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0" y="2167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citizens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680960" y="258775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Old-age pension, Atal Pension Yojana, and senior annuity schemes explained in plain, spoken language.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4360" y="4160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1C3A63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68680" y="4686300"/>
            <a:ext cx="822960" cy="822960"/>
          </a:xfrm>
          <a:prstGeom prst="ellipse">
            <a:avLst/>
          </a:prstGeom>
          <a:solidFill>
            <a:srgbClr val="1C3A63"/>
          </a:solidFill>
          <a:ln/>
        </p:spPr>
      </p:sp>
      <p:pic>
        <p:nvPicPr>
          <p:cNvPr id="19" name="Image 3" descr="/home/claude/ppt/icons/fem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4801514"/>
            <a:ext cx="592531" cy="5925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20240" y="436168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&amp; widows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920240" y="478231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 pension, maternity benefits (PMMVY), and SHG credit schemes like Lakhpati Didi.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55080" y="4160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3F5F9"/>
          </a:solidFill>
          <a:ln/>
          <a:effectLst>
            <a:outerShdw sx="100000" sy="100000" kx="0" ky="0" algn="bl" rotWithShape="0" blurRad="76200" dist="25400" dir="5400000">
              <a:srgbClr val="1C3A63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9400" y="46863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4" name="Image 4" descr="/home/claude/ppt/icons/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614" y="4801514"/>
            <a:ext cx="592531" cy="59253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80960" y="436168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Low-literacy citizens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680960" y="478231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uncomfortable with English forms or web navigation — the whole journey works by voice alone.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645920"/>
            <a:ext cx="4206240" cy="4206240"/>
          </a:xfrm>
          <a:prstGeom prst="ellipse">
            <a:avLst/>
          </a:prstGeom>
          <a:solidFill>
            <a:srgbClr val="1C3A6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/home/claude/ppt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TECHNICAL APPROACH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stack. Deterministic core.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94360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8" name="Shape 5"/>
          <p:cNvSpPr/>
          <p:nvPr/>
        </p:nvSpPr>
        <p:spPr>
          <a:xfrm>
            <a:off x="1248156" y="192024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9" name="Image 1" descr="/home/claude/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28" y="2012412"/>
            <a:ext cx="474025" cy="474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69748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04088" y="3264408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(STT/TTS)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542032" y="25831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2816352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14" name="Shape 10"/>
          <p:cNvSpPr/>
          <p:nvPr/>
        </p:nvSpPr>
        <p:spPr>
          <a:xfrm>
            <a:off x="3470148" y="192024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5" name="Image 2" descr="/home/claude/ppt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20" y="2012412"/>
            <a:ext cx="474025" cy="474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6080" y="269748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 + Tailwind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926080" y="3264408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UI, 7 languages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764024" y="25831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5038344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5692140" y="192024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1" name="Image 3" descr="/home/claude/ppt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312" y="2012412"/>
            <a:ext cx="474025" cy="474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48072" y="269748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 API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148072" y="3264408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orchestration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986016" y="25831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7260336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26" name="Shape 20"/>
          <p:cNvSpPr/>
          <p:nvPr/>
        </p:nvSpPr>
        <p:spPr>
          <a:xfrm>
            <a:off x="7914132" y="192024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7" name="Image 4" descr="/home/claude/ppt/icons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6304" y="2012412"/>
            <a:ext cx="474025" cy="4740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70064" y="269748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Dual-Engine NLP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370064" y="3264408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optional Gemini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208008" y="25831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1" name="Shape 24"/>
          <p:cNvSpPr/>
          <p:nvPr/>
        </p:nvSpPr>
        <p:spPr>
          <a:xfrm>
            <a:off x="9482328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32" name="Shape 25"/>
          <p:cNvSpPr/>
          <p:nvPr/>
        </p:nvSpPr>
        <p:spPr>
          <a:xfrm>
            <a:off x="10136124" y="192024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3" name="Image 5" descr="/home/claude/ppt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296" y="2012412"/>
            <a:ext cx="474025" cy="4740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592056" y="269748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9592056" y="3264408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22+ schemes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594360" y="43434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C3A63"/>
          </a:solidFill>
          <a:ln/>
        </p:spPr>
      </p:sp>
      <p:sp>
        <p:nvSpPr>
          <p:cNvPr id="37" name="Text 29"/>
          <p:cNvSpPr/>
          <p:nvPr/>
        </p:nvSpPr>
        <p:spPr>
          <a:xfrm>
            <a:off x="86868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22+ Verified Schemes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68680" y="48920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Education · Women &amp; Widows · Healthcare · Pension · Housing · Employment — each with official portal links and last-verified dates.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172200" y="43434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1C3A63"/>
          </a:solidFill>
          <a:ln/>
        </p:spPr>
      </p:sp>
      <p:sp>
        <p:nvSpPr>
          <p:cNvPr id="40" name="Text 32"/>
          <p:cNvSpPr/>
          <p:nvPr/>
        </p:nvSpPr>
        <p:spPr>
          <a:xfrm>
            <a:off x="644652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Status Logic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6446520" y="48920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Eligible · Needs More Info · Doesn’t Appear to Match — every result is explainable, sourced, and free of AI-invented benefits.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3" name="Image 0" descr="/home/claude/ppt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 &amp; BUSINESS POTENTIAL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civic-tech layer for every welfare scheme.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1261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sits between government schemes and the citizens they’re meant for — a gap worth closing at national scale.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4284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031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700+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&amp; state schemes across India today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4284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21031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22+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61772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verified &amp; live in the MVP, extensible by design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42845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21031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₹41,200+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412480" y="2834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E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yearly benefit surfaced for a single demo persona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7947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3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2084832" y="3995928"/>
            <a:ext cx="658368" cy="658368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18" name="Image 1" descr="/home/claude/ppt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04" y="4088100"/>
            <a:ext cx="474025" cy="4740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" y="475488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&amp; CSC partnerships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" y="51663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to state e-governance missions and Common Service Centres as an assisted-discovery layer for operators.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70832" y="37947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3F5F9"/>
          </a:solidFill>
          <a:ln/>
        </p:spPr>
      </p:sp>
      <p:sp>
        <p:nvSpPr>
          <p:cNvPr id="22" name="Shape 18"/>
          <p:cNvSpPr/>
          <p:nvPr/>
        </p:nvSpPr>
        <p:spPr>
          <a:xfrm>
            <a:off x="5861304" y="3995928"/>
            <a:ext cx="658368" cy="658368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23" name="Image 2" descr="/home/claude/ppt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476" y="4088100"/>
            <a:ext cx="474025" cy="4740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53712" y="475488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&amp; CSR collaboration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99432" y="51663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White-labelled deployments for NGOs and CSR programs working on financial &amp; welfare inclusion.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147304" y="37947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3F5F9"/>
          </a:solidFill>
          <a:ln/>
        </p:spPr>
      </p:sp>
      <p:sp>
        <p:nvSpPr>
          <p:cNvPr id="27" name="Shape 22"/>
          <p:cNvSpPr/>
          <p:nvPr/>
        </p:nvSpPr>
        <p:spPr>
          <a:xfrm>
            <a:off x="9637776" y="3995928"/>
            <a:ext cx="658368" cy="658368"/>
          </a:xfrm>
          <a:prstGeom prst="ellipse">
            <a:avLst/>
          </a:prstGeom>
          <a:solidFill>
            <a:srgbClr val="1C7A4D"/>
          </a:solidFill>
          <a:ln/>
        </p:spPr>
      </p:sp>
      <p:pic>
        <p:nvPicPr>
          <p:cNvPr id="28" name="Image 3" descr="/home/claude/pp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948" y="4088100"/>
            <a:ext cx="474025" cy="4740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30184" y="475488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Direct-to-citizen app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375904" y="516636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discovery for citizens, with premium application-tracking and document-vault features over time.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ppt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SCALABILITY &amp; FUTURE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MVP to national coverage.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1261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 to scale in three directions: more languages, more schemes, more channels.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3639312" cy="3291840"/>
          </a:xfrm>
          <a:prstGeom prst="roundRect">
            <a:avLst>
              <a:gd name="adj" fmla="val 2778"/>
            </a:avLst>
          </a:prstGeom>
          <a:solidFill>
            <a:srgbClr val="14284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45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MVP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31821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languages, 22+ schemes, deterministic engine, voice UI, printable action plans.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0832" y="1965960"/>
            <a:ext cx="3639312" cy="3291840"/>
          </a:xfrm>
          <a:prstGeom prst="roundRect">
            <a:avLst>
              <a:gd name="adj" fmla="val 2778"/>
            </a:avLst>
          </a:prstGeom>
          <a:solidFill>
            <a:srgbClr val="1C3A63"/>
          </a:solidFill>
          <a:ln/>
        </p:spPr>
      </p:sp>
      <p:sp>
        <p:nvSpPr>
          <p:cNvPr id="12" name="Text 9"/>
          <p:cNvSpPr/>
          <p:nvPr/>
        </p:nvSpPr>
        <p:spPr>
          <a:xfrm>
            <a:off x="4599432" y="21945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PILOT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99432" y="25603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CSC Rollout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99432" y="3154680"/>
            <a:ext cx="31821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2–3 state welfare departments; CSC operator dashboard; full central + state scheme corpus.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47304" y="1965960"/>
            <a:ext cx="3639312" cy="3291840"/>
          </a:xfrm>
          <a:prstGeom prst="roundRect">
            <a:avLst>
              <a:gd name="adj" fmla="val 2778"/>
            </a:avLst>
          </a:prstGeom>
          <a:solidFill>
            <a:srgbClr val="1C7A4D"/>
          </a:solidFill>
          <a:ln/>
        </p:spPr>
      </p:sp>
      <p:sp>
        <p:nvSpPr>
          <p:cNvPr id="16" name="Text 13"/>
          <p:cNvSpPr/>
          <p:nvPr/>
        </p:nvSpPr>
        <p:spPr>
          <a:xfrm>
            <a:off x="8375904" y="21945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75904" y="25603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Coverage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75904" y="3154680"/>
            <a:ext cx="31821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IVR/SMS for feature phones, offline-first PWA, all 22 official languages, live DBT status tracking.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389120" cy="4389120"/>
          </a:xfrm>
          <a:prstGeom prst="ellipse">
            <a:avLst/>
          </a:prstGeom>
          <a:solidFill>
            <a:srgbClr val="1C3A6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/home/claude/ppt/icons/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95092"/>
            <a:ext cx="474025" cy="4740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IF WE HAD MORE TIME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we’d build next.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1261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directions we scoped but didn’t have hackathon hours for — each one deepens reach or trust.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187452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9" name="Shape 6"/>
          <p:cNvSpPr/>
          <p:nvPr/>
        </p:nvSpPr>
        <p:spPr>
          <a:xfrm>
            <a:off x="795528" y="207568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1" descr="/home/claude/ppt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163470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03911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IVR &amp; WhatsApp bot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95528" y="274320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missed-call / WhatsApp flow so feature-phone users get the same voice-first experience with no app or smartphone.</a:t>
            </a:r>
            <a:endParaRPr lang="en-US" sz="970" dirty="0"/>
          </a:p>
        </p:txBody>
      </p:sp>
      <p:sp>
        <p:nvSpPr>
          <p:cNvPr id="13" name="Shape 9"/>
          <p:cNvSpPr/>
          <p:nvPr/>
        </p:nvSpPr>
        <p:spPr>
          <a:xfrm>
            <a:off x="4370832" y="187452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0" y="207568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5" name="Image 2" descr="/home/claude/ppt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782" y="2163470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9512" y="203911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DBT status tracking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0" y="274320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government portals to show real application and disbursal status, not just eligibility.</a:t>
            </a:r>
            <a:endParaRPr lang="en-US" sz="970" dirty="0"/>
          </a:p>
        </p:txBody>
      </p:sp>
      <p:sp>
        <p:nvSpPr>
          <p:cNvPr id="18" name="Shape 13"/>
          <p:cNvSpPr/>
          <p:nvPr/>
        </p:nvSpPr>
        <p:spPr>
          <a:xfrm>
            <a:off x="8147304" y="187452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19" name="Shape 14"/>
          <p:cNvSpPr/>
          <p:nvPr/>
        </p:nvSpPr>
        <p:spPr>
          <a:xfrm>
            <a:off x="8348472" y="207568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0" name="Image 3" descr="/home/claude/ppt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254" y="2163470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15984" y="203911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PWA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48472" y="274320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caching and SMS fallback so low-connectivity rural areas aren’t left out.</a:t>
            </a:r>
            <a:endParaRPr lang="en-US" sz="970" dirty="0"/>
          </a:p>
        </p:txBody>
      </p:sp>
      <p:sp>
        <p:nvSpPr>
          <p:cNvPr id="23" name="Shape 17"/>
          <p:cNvSpPr/>
          <p:nvPr/>
        </p:nvSpPr>
        <p:spPr>
          <a:xfrm>
            <a:off x="594360" y="40233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24" name="Shape 18"/>
          <p:cNvSpPr/>
          <p:nvPr/>
        </p:nvSpPr>
        <p:spPr>
          <a:xfrm>
            <a:off x="795528" y="422452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5" name="Image 4" descr="/home/claude/ppt/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" y="4312310"/>
            <a:ext cx="373075" cy="3730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418795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Regional-accent ASR tuning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95528" y="489204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speech models per state and dialect to push voice-recognition accuracy even higher.</a:t>
            </a:r>
            <a:endParaRPr lang="en-US" sz="970" dirty="0"/>
          </a:p>
        </p:txBody>
      </p:sp>
      <p:sp>
        <p:nvSpPr>
          <p:cNvPr id="28" name="Shape 21"/>
          <p:cNvSpPr/>
          <p:nvPr/>
        </p:nvSpPr>
        <p:spPr>
          <a:xfrm>
            <a:off x="4370832" y="40233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0" y="422452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0" name="Image 5" descr="/home/claude/ppt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782" y="4312310"/>
            <a:ext cx="373075" cy="3730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39512" y="418795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operator dashboard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572000" y="489204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console so Common Service Centre staff can file applications on a citizen’s behalf.</a:t>
            </a:r>
            <a:endParaRPr lang="en-US" sz="970" dirty="0"/>
          </a:p>
        </p:txBody>
      </p:sp>
      <p:sp>
        <p:nvSpPr>
          <p:cNvPr id="33" name="Shape 25"/>
          <p:cNvSpPr/>
          <p:nvPr/>
        </p:nvSpPr>
        <p:spPr>
          <a:xfrm>
            <a:off x="8147304" y="4023360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1C3A63"/>
          </a:solidFill>
          <a:ln/>
        </p:spPr>
      </p:sp>
      <p:sp>
        <p:nvSpPr>
          <p:cNvPr id="34" name="Shape 26"/>
          <p:cNvSpPr/>
          <p:nvPr/>
        </p:nvSpPr>
        <p:spPr>
          <a:xfrm>
            <a:off x="8348472" y="4224528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5" name="Image 6" descr="/home/claude/ppt/icons/boo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254" y="4312310"/>
            <a:ext cx="373075" cy="37307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15984" y="4187952"/>
            <a:ext cx="2587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scheme corpus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8348472" y="4892040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C3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22 curated schemes to an auto-updating database covering all central and state programs.</a:t>
            </a:r>
            <a:endParaRPr lang="en-US" sz="97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SAHAAYA — Voice-First Government Scheme Navigator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2026-09-20T12:14:28Z</dcterms:created>
  <dcterms:modified xsi:type="dcterms:W3CDTF">2026-09-20T12:14:28Z</dcterms:modified>
</cp:coreProperties>
</file>